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3862"/>
    <a:srgbClr val="003366"/>
    <a:srgbClr val="1F2F63"/>
    <a:srgbClr val="1F37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3943D-E84B-4CAF-9699-0D3A2349EE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59EC5-33EA-4175-9501-B3AE6D792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9ED0B-DC99-420C-B5E1-08F1E5105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2CC4-2FB3-41C5-91A6-46A990C1200E}" type="datetimeFigureOut">
              <a:rPr lang="en-US" smtClean="0"/>
              <a:t>8/11/2021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22B59-0D4F-46A1-9CD2-8B3B68A92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A51EE-041E-4080-896A-EEA6390CB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8973-D50C-4A7B-AD4D-A495286E8D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679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658A6-D3CA-4763-B3ED-B098EDDCD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72084-DD38-4216-B8F2-4875E99F0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882C6-674C-4BF4-90FB-23F62459E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2CC4-2FB3-41C5-91A6-46A990C1200E}" type="datetimeFigureOut">
              <a:rPr lang="en-US" smtClean="0"/>
              <a:t>8/11/2021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56768-2B29-40AB-B669-E8E6E8A8F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CC910-F58F-4592-8187-26602A837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8973-D50C-4A7B-AD4D-A495286E8D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969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69B1-F83D-480D-9FDD-A0116430B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0D27B-6FEB-4B45-85CB-18F1E0BD4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D3317-7A07-4D09-A70B-0758EE82B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2CC4-2FB3-41C5-91A6-46A990C1200E}" type="datetimeFigureOut">
              <a:rPr lang="en-US" smtClean="0"/>
              <a:t>8/11/2021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86DEF-0B95-4D32-9F65-FB58F1844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25F59-727D-42E2-914D-3B8B122A3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8973-D50C-4A7B-AD4D-A495286E8D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587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26E59-DF4A-4E54-80BE-BB51BD6D3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1EDCD-074E-459D-ABA0-F98C9B92EF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1C7321-BB4F-4B1A-9386-BE7AB22A8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6C5BF-2BEF-4E0B-8B4A-7F1C5213D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2CC4-2FB3-41C5-91A6-46A990C1200E}" type="datetimeFigureOut">
              <a:rPr lang="en-US" smtClean="0"/>
              <a:t>8/11/2021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AB0FA6-40AA-4D40-B9E2-0B6F2A8E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EEE86-44C0-44AB-9E30-026C32C47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8973-D50C-4A7B-AD4D-A495286E8D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646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859F8-D91D-4C39-979A-4628C3DF9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95041-5953-4F6F-871F-BDCEBB47C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EE5DFA-C46E-4D1A-B06A-642FC6369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6E4B38-6022-405E-868D-2E97D8B9E3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77807B-8FCD-4CDA-94EF-E240C94977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8E2C84-C716-4CF8-8AD1-334661E53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2CC4-2FB3-41C5-91A6-46A990C1200E}" type="datetimeFigureOut">
              <a:rPr lang="en-US" smtClean="0"/>
              <a:t>8/11/2021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98C1A1-919B-4400-B669-A9996A35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F995B7-A097-4079-994F-9E1A9EE49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8973-D50C-4A7B-AD4D-A495286E8D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168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E0629-6013-4CAC-AE34-365385666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E88E16-4E13-42EB-88CD-C6443C6BE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2CC4-2FB3-41C5-91A6-46A990C1200E}" type="datetimeFigureOut">
              <a:rPr lang="en-US" smtClean="0"/>
              <a:t>8/11/2021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15D33C-595C-47AD-922F-7C414D0B2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B74383-A37E-435E-9ACB-C58908407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8973-D50C-4A7B-AD4D-A495286E8D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561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7A840C-B75B-4921-8414-9F366E686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2CC4-2FB3-41C5-91A6-46A990C1200E}" type="datetimeFigureOut">
              <a:rPr lang="en-US" smtClean="0"/>
              <a:t>8/11/2021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370957-4D7E-48EF-B929-07005EB59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C6BB3-537E-4085-A124-CE7CA99BE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8973-D50C-4A7B-AD4D-A495286E8D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396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9E882-6A7F-4132-89C7-5D87C0117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4E0BD-256C-4134-978E-4910E7120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C04DA-3CA1-4C00-BA75-807548DDD7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4BDEA-7CB5-406C-9D79-F54355FD9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2CC4-2FB3-41C5-91A6-46A990C1200E}" type="datetimeFigureOut">
              <a:rPr lang="en-US" smtClean="0"/>
              <a:t>8/11/2021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3ECBA4-9F52-49C6-929F-D8EE2E0B3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2EB62-BC80-4946-9D41-B7B6B9904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8973-D50C-4A7B-AD4D-A495286E8D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729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8FBEA-9BDE-43A5-9A34-92AC1F6A6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E2391E-C800-4BCE-A04A-F21D7799D4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CB1ABE-34F0-4278-A33D-37DBA4B6F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C621A-BDD3-4F82-9F7B-29BC7BEA9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2CC4-2FB3-41C5-91A6-46A990C1200E}" type="datetimeFigureOut">
              <a:rPr lang="en-US" smtClean="0"/>
              <a:t>8/11/2021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CBBE34-967D-4DFB-BAC7-53A58094B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724009-7EE2-40ED-BE57-D82D44F3D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8973-D50C-4A7B-AD4D-A495286E8D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173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3BACF-E4C8-4F28-BC54-51934F5C3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9B762-F16A-4984-A4FF-455FA3CFA1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DC07D-6D9F-483B-A001-9096F650B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2CC4-2FB3-41C5-91A6-46A990C1200E}" type="datetimeFigureOut">
              <a:rPr lang="en-US" smtClean="0"/>
              <a:t>8/11/2021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AE347-59FC-4A2C-A998-332E6CE4D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D9A80-346A-4766-9381-67B5D3686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8973-D50C-4A7B-AD4D-A495286E8D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075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1E4BDE-DBDB-47B9-9AFD-0E7A3E6EBD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2FFDCE-5110-48C1-A806-466877CDB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C7886-ADF4-48D1-BCCF-2003C3728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2CC4-2FB3-41C5-91A6-46A990C1200E}" type="datetimeFigureOut">
              <a:rPr lang="en-US" smtClean="0"/>
              <a:t>8/11/2021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DE3D0-75E1-4AF2-AD55-40D8CA295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EDCB9-E823-4130-823C-9B09D61AF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8973-D50C-4A7B-AD4D-A495286E8D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908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38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A331EA-714F-46C9-B000-C0D5DF61A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B7CD20-3713-4032-BBE1-EB3999BC2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BAF22-BDDE-435F-A94F-9389F15538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AA2CC4-2FB3-41C5-91A6-46A990C1200E}" type="datetimeFigureOut">
              <a:rPr lang="en-US" smtClean="0"/>
              <a:t>8/11/2021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36F2F-E50C-407D-A46D-0F47BC8818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3267F-398B-463B-BB3B-D876BEE10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7F8973-D50C-4A7B-AD4D-A495286E8D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280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CCB29-8336-426A-9544-5FCA4136A9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Welcome to Harbinger Group Ticketing System Mobile App 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2232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97"/>
    </mc:Choice>
    <mc:Fallback xmlns="">
      <p:transition spd="slow" advTm="519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3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44" name="Rectangle 34">
            <a:extLst>
              <a:ext uri="{FF2B5EF4-FFF2-40B4-BE49-F238E27FC236}">
                <a16:creationId xmlns:a16="http://schemas.microsoft.com/office/drawing/2014/main" id="{5428AC11-BFDF-42EF-80FF-717BBF909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08628" y="1408629"/>
            <a:ext cx="6858000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36">
            <a:extLst>
              <a:ext uri="{FF2B5EF4-FFF2-40B4-BE49-F238E27FC236}">
                <a16:creationId xmlns:a16="http://schemas.microsoft.com/office/drawing/2014/main" id="{2CC56AF6-38E4-490B-8E2B-1A1037B4E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832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38">
            <a:extLst>
              <a:ext uri="{FF2B5EF4-FFF2-40B4-BE49-F238E27FC236}">
                <a16:creationId xmlns:a16="http://schemas.microsoft.com/office/drawing/2014/main" id="{2339A6F5-AD6A-4D80-8AD9-6290D13AC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513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61000"/>
                </a:srgbClr>
              </a:gs>
              <a:gs pos="95000">
                <a:schemeClr val="accent5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D40DD-199B-4B3D-A479-CDA4338C8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7" y="2049882"/>
            <a:ext cx="2878688" cy="27579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dirty="0">
                <a:solidFill>
                  <a:srgbClr val="FFFFFF"/>
                </a:solidFill>
                <a:effectLst/>
              </a:rPr>
              <a:t>		Download Ticket system App from Play store / App store! </a:t>
            </a:r>
            <a:br>
              <a:rPr lang="en-US" sz="2800" dirty="0">
                <a:solidFill>
                  <a:srgbClr val="FFFFFF"/>
                </a:solidFill>
                <a:effectLst/>
              </a:rPr>
            </a:br>
            <a:endParaRPr lang="en-US" sz="2800" dirty="0">
              <a:solidFill>
                <a:srgbClr val="FFFFFF"/>
              </a:solidFill>
            </a:endParaRPr>
          </a:p>
        </p:txBody>
      </p:sp>
      <p:pic>
        <p:nvPicPr>
          <p:cNvPr id="5" name="Content Placeholder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61261794-8393-46E0-AEA2-6ABB59EA1EAD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73539" y="1646515"/>
            <a:ext cx="3149191" cy="394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23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13"/>
    </mc:Choice>
    <mc:Fallback xmlns="">
      <p:transition spd="slow" advTm="1121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C5772175-955A-4811-B3D9-A03023BEF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0619" y="381383"/>
            <a:ext cx="6858000" cy="609523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24724" y="126724"/>
            <a:ext cx="6346209" cy="611304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792937" y="2554938"/>
            <a:ext cx="2501979" cy="610413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1245782" y="1257085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5457" y="385455"/>
            <a:ext cx="6858001" cy="608709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0C86EF7-5EC4-4682-A7BD-444DA4916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760" y="10141"/>
            <a:ext cx="5608469" cy="6858864"/>
          </a:xfrm>
          <a:prstGeom prst="rect">
            <a:avLst/>
          </a:prstGeom>
          <a:gradFill>
            <a:gsLst>
              <a:gs pos="21000">
                <a:schemeClr val="accent1">
                  <a:lumMod val="75000"/>
                  <a:alpha val="6000"/>
                </a:schemeClr>
              </a:gs>
              <a:gs pos="99000">
                <a:schemeClr val="accent1">
                  <a:lumMod val="50000"/>
                  <a:alpha val="33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5B9E38-A594-4A74-B53F-ADE50EB7F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053" y="2253189"/>
            <a:ext cx="4494652" cy="346517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br>
              <a:rPr lang="en-US" sz="3200" b="1" dirty="0">
                <a:solidFill>
                  <a:srgbClr val="FFFFFF"/>
                </a:solidFill>
                <a:effectLst/>
              </a:rPr>
            </a:br>
            <a:br>
              <a:rPr lang="en-US" sz="3200" b="1" dirty="0">
                <a:solidFill>
                  <a:srgbClr val="FFFFFF"/>
                </a:solidFill>
                <a:effectLst/>
              </a:rPr>
            </a:br>
            <a:br>
              <a:rPr lang="en-US" sz="3200" b="1" dirty="0">
                <a:solidFill>
                  <a:srgbClr val="FFFFFF"/>
                </a:solidFill>
                <a:effectLst/>
              </a:rPr>
            </a:br>
            <a:br>
              <a:rPr lang="en-US" sz="3200" b="1" dirty="0">
                <a:solidFill>
                  <a:srgbClr val="FFFFFF"/>
                </a:solidFill>
                <a:effectLst/>
              </a:rPr>
            </a:br>
            <a:br>
              <a:rPr lang="en-US" sz="3200" b="1" dirty="0">
                <a:solidFill>
                  <a:srgbClr val="FFFFFF"/>
                </a:solidFill>
                <a:effectLst/>
              </a:rPr>
            </a:br>
            <a:br>
              <a:rPr lang="en-US" sz="3200" b="1" dirty="0">
                <a:solidFill>
                  <a:srgbClr val="FFFFFF"/>
                </a:solidFill>
                <a:effectLst/>
              </a:rPr>
            </a:br>
            <a:br>
              <a:rPr lang="en-US" sz="3200" b="1" dirty="0">
                <a:solidFill>
                  <a:srgbClr val="FFFFFF"/>
                </a:solidFill>
                <a:effectLst/>
              </a:rPr>
            </a:br>
            <a:br>
              <a:rPr lang="en-US" sz="3200" b="1" dirty="0">
                <a:solidFill>
                  <a:srgbClr val="FFFFFF"/>
                </a:solidFill>
                <a:effectLst/>
              </a:rPr>
            </a:br>
            <a:br>
              <a:rPr lang="en-US" sz="3200" b="1" dirty="0">
                <a:solidFill>
                  <a:srgbClr val="FFFFFF"/>
                </a:solidFill>
                <a:effectLst/>
              </a:rPr>
            </a:br>
            <a:br>
              <a:rPr lang="en-US" sz="3200" b="1" dirty="0">
                <a:solidFill>
                  <a:srgbClr val="FFFFFF"/>
                </a:solidFill>
                <a:effectLst/>
              </a:rPr>
            </a:br>
            <a:br>
              <a:rPr lang="en-US" sz="3200" b="1" dirty="0">
                <a:solidFill>
                  <a:srgbClr val="FFFFFF"/>
                </a:solidFill>
                <a:effectLst/>
              </a:rPr>
            </a:br>
            <a:br>
              <a:rPr lang="en-US" sz="3200" b="1" dirty="0">
                <a:solidFill>
                  <a:srgbClr val="FFFFFF"/>
                </a:solidFill>
                <a:effectLst/>
              </a:rPr>
            </a:br>
            <a:br>
              <a:rPr lang="en-US" sz="3200" b="1" dirty="0">
                <a:solidFill>
                  <a:srgbClr val="FFFFFF"/>
                </a:solidFill>
                <a:effectLst/>
              </a:rPr>
            </a:br>
            <a:r>
              <a:rPr lang="en-US" sz="3200" b="1" dirty="0">
                <a:solidFill>
                  <a:srgbClr val="FFFFFF"/>
                </a:solidFill>
                <a:effectLst/>
              </a:rPr>
              <a:t>After opening </a:t>
            </a:r>
            <a:r>
              <a:rPr lang="en-US" sz="3200" b="1" dirty="0">
                <a:solidFill>
                  <a:srgbClr val="FFFFFF"/>
                </a:solidFill>
              </a:rPr>
              <a:t>App this page</a:t>
            </a:r>
            <a:r>
              <a:rPr lang="en-US" sz="3200" b="1" dirty="0">
                <a:solidFill>
                  <a:srgbClr val="FFFFFF"/>
                </a:solidFill>
                <a:effectLst/>
              </a:rPr>
              <a:t> will be displayed .</a:t>
            </a:r>
            <a:br>
              <a:rPr lang="en-US" sz="3200" b="1" dirty="0">
                <a:solidFill>
                  <a:srgbClr val="FFFFFF"/>
                </a:solidFill>
                <a:effectLst/>
              </a:rPr>
            </a:br>
            <a:br>
              <a:rPr lang="en-US" sz="3200" b="1" dirty="0">
                <a:solidFill>
                  <a:srgbClr val="FFFFFF"/>
                </a:solidFill>
                <a:effectLst/>
              </a:rPr>
            </a:br>
            <a:r>
              <a:rPr lang="en-US" sz="3200" b="1" dirty="0">
                <a:solidFill>
                  <a:srgbClr val="FFFFFF"/>
                </a:solidFill>
                <a:effectLst/>
              </a:rPr>
              <a:t>Click on Settings icon at the right-hand side.</a:t>
            </a:r>
            <a:br>
              <a:rPr lang="en-US" sz="3200" b="1" dirty="0">
                <a:solidFill>
                  <a:srgbClr val="FFFFFF"/>
                </a:solidFill>
                <a:effectLst/>
              </a:rPr>
            </a:br>
            <a:br>
              <a:rPr lang="en-US" sz="3200" b="1" dirty="0">
                <a:solidFill>
                  <a:srgbClr val="FFFFFF"/>
                </a:solidFill>
                <a:effectLst/>
              </a:rPr>
            </a:br>
            <a:br>
              <a:rPr lang="en-US" sz="3200" b="1" dirty="0">
                <a:solidFill>
                  <a:srgbClr val="FFFFFF"/>
                </a:solidFill>
                <a:effectLst/>
              </a:rPr>
            </a:br>
            <a:r>
              <a:rPr lang="en-US" sz="3200" b="1" dirty="0">
                <a:solidFill>
                  <a:srgbClr val="FFFFFF"/>
                </a:solidFill>
                <a:effectLst/>
              </a:rPr>
              <a:t> </a:t>
            </a:r>
            <a:br>
              <a:rPr lang="en-US" dirty="0">
                <a:solidFill>
                  <a:srgbClr val="FFFFFF"/>
                </a:solidFill>
                <a:effectLst/>
              </a:rPr>
            </a:b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CE388A2-2A81-4EC1-ABBD-013F0A3F354A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t="18950" r="3" b="9749"/>
          <a:stretch/>
        </p:blipFill>
        <p:spPr>
          <a:xfrm>
            <a:off x="7101840" y="1028701"/>
            <a:ext cx="4033520" cy="483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928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597"/>
    </mc:Choice>
    <mc:Fallback xmlns="">
      <p:transition spd="slow" advTm="1159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5772175-955A-4811-B3D9-A03023BEF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0619" y="381383"/>
            <a:ext cx="6858000" cy="609523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24724" y="126724"/>
            <a:ext cx="6346209" cy="611304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792937" y="2554938"/>
            <a:ext cx="2501979" cy="610413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1245782" y="1257085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5457" y="385455"/>
            <a:ext cx="6858001" cy="608709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0C86EF7-5EC4-4682-A7BD-444DA4916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760" y="10141"/>
            <a:ext cx="5608469" cy="6858864"/>
          </a:xfrm>
          <a:prstGeom prst="rect">
            <a:avLst/>
          </a:prstGeom>
          <a:gradFill>
            <a:gsLst>
              <a:gs pos="21000">
                <a:schemeClr val="accent1">
                  <a:lumMod val="75000"/>
                  <a:alpha val="6000"/>
                </a:schemeClr>
              </a:gs>
              <a:gs pos="99000">
                <a:schemeClr val="accent1">
                  <a:lumMod val="50000"/>
                  <a:alpha val="33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D757EB-6D71-424C-90FE-2CAD1CB98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217" y="1158586"/>
            <a:ext cx="4494652" cy="346517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Set the server port as 443 . </a:t>
            </a:r>
            <a:br>
              <a:rPr lang="en-US" sz="2400" b="1" dirty="0">
                <a:solidFill>
                  <a:srgbClr val="FFFFFF"/>
                </a:solidFill>
              </a:rPr>
            </a:br>
            <a:br>
              <a:rPr lang="en-US" sz="2400" b="1" dirty="0">
                <a:solidFill>
                  <a:srgbClr val="FFFFFF"/>
                </a:solidFill>
              </a:rPr>
            </a:br>
            <a:r>
              <a:rPr lang="en-US" sz="2400" b="1" dirty="0">
                <a:solidFill>
                  <a:srgbClr val="FFFFFF"/>
                </a:solidFill>
              </a:rPr>
              <a:t>Check  “Use https” option.</a:t>
            </a:r>
            <a:br>
              <a:rPr lang="en-US" sz="2400" b="1" dirty="0">
                <a:solidFill>
                  <a:srgbClr val="FFFFFF"/>
                </a:solidFill>
              </a:rPr>
            </a:br>
            <a:br>
              <a:rPr lang="en-US" sz="2400" b="1" dirty="0">
                <a:solidFill>
                  <a:srgbClr val="FFFFFF"/>
                </a:solidFill>
              </a:rPr>
            </a:br>
            <a: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Click on “SAVE” button after doing changes</a:t>
            </a:r>
            <a:br>
              <a:rPr lang="en-US" sz="3700" dirty="0">
                <a:solidFill>
                  <a:srgbClr val="FFFFFF"/>
                </a:solidFill>
                <a:effectLst/>
              </a:rPr>
            </a:br>
            <a:r>
              <a:rPr lang="en-US" sz="3700" dirty="0">
                <a:solidFill>
                  <a:srgbClr val="FFFFFF"/>
                </a:solidFill>
                <a:effectLst/>
              </a:rPr>
              <a:t>	</a:t>
            </a:r>
            <a:endParaRPr lang="en-US" sz="3700" dirty="0">
              <a:solidFill>
                <a:srgbClr val="FFFFFF"/>
              </a:solidFill>
            </a:endParaRPr>
          </a:p>
        </p:txBody>
      </p:sp>
      <p:pic>
        <p:nvPicPr>
          <p:cNvPr id="27" name="Content Placeholder 26">
            <a:extLst>
              <a:ext uri="{FF2B5EF4-FFF2-40B4-BE49-F238E27FC236}">
                <a16:creationId xmlns:a16="http://schemas.microsoft.com/office/drawing/2014/main" id="{A7F71BB5-F344-42F9-B975-ED9590A86BC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96480" y="589280"/>
            <a:ext cx="3843020" cy="613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65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827"/>
    </mc:Choice>
    <mc:Fallback xmlns="">
      <p:transition spd="slow" advTm="1282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5772175-955A-4811-B3D9-A03023BEF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0619" y="381383"/>
            <a:ext cx="6858000" cy="609523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24724" y="126724"/>
            <a:ext cx="6346209" cy="611304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792937" y="2554938"/>
            <a:ext cx="2501979" cy="610413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1245782" y="1257085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5457" y="385455"/>
            <a:ext cx="6858001" cy="608709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0C86EF7-5EC4-4682-A7BD-444DA4916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760" y="10141"/>
            <a:ext cx="5608469" cy="6858864"/>
          </a:xfrm>
          <a:prstGeom prst="rect">
            <a:avLst/>
          </a:prstGeom>
          <a:gradFill>
            <a:gsLst>
              <a:gs pos="21000">
                <a:schemeClr val="accent1">
                  <a:lumMod val="75000"/>
                  <a:alpha val="6000"/>
                </a:schemeClr>
              </a:gs>
              <a:gs pos="99000">
                <a:schemeClr val="accent1">
                  <a:lumMod val="50000"/>
                  <a:alpha val="33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D757EB-6D71-424C-90FE-2CAD1CB98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778" y="1409409"/>
            <a:ext cx="4494652" cy="346517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sz="31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31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31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31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3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7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Insert your LDAP credentials and select “HARBINGER” from drop-down list. </a:t>
            </a:r>
            <a:br>
              <a:rPr lang="en-US" sz="31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31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7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Click on “LOGIN” after inserting the LDAP credentials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3700" dirty="0">
                <a:solidFill>
                  <a:srgbClr val="FFFFFF"/>
                </a:solidFill>
                <a:effectLst/>
              </a:rPr>
            </a:br>
            <a:r>
              <a:rPr lang="en-US" sz="3700" dirty="0">
                <a:solidFill>
                  <a:srgbClr val="FFFFFF"/>
                </a:solidFill>
                <a:effectLst/>
              </a:rPr>
              <a:t>	</a:t>
            </a:r>
            <a:endParaRPr lang="en-US" sz="3700" dirty="0">
              <a:solidFill>
                <a:srgbClr val="FFFFFF"/>
              </a:solidFill>
            </a:endParaRP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1FD84F92-F580-4469-AE97-A966C8737E2E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66001" y="670560"/>
            <a:ext cx="3637280" cy="568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93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67"/>
    </mc:Choice>
    <mc:Fallback xmlns="">
      <p:transition spd="slow" advTm="1306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5772175-955A-4811-B3D9-A03023BEF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0619" y="381383"/>
            <a:ext cx="6858000" cy="609523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24724" y="126724"/>
            <a:ext cx="6346209" cy="611304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792937" y="2554938"/>
            <a:ext cx="2501979" cy="610413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1245782" y="1257085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5457" y="385455"/>
            <a:ext cx="6858001" cy="608709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0C86EF7-5EC4-4682-A7BD-444DA4916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760" y="10141"/>
            <a:ext cx="5608469" cy="6858864"/>
          </a:xfrm>
          <a:prstGeom prst="rect">
            <a:avLst/>
          </a:prstGeom>
          <a:gradFill>
            <a:gsLst>
              <a:gs pos="21000">
                <a:schemeClr val="accent1">
                  <a:lumMod val="75000"/>
                  <a:alpha val="6000"/>
                </a:schemeClr>
              </a:gs>
              <a:gs pos="99000">
                <a:schemeClr val="accent1">
                  <a:lumMod val="50000"/>
                  <a:alpha val="33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D757EB-6D71-424C-90FE-2CAD1CB98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876" y="2259420"/>
            <a:ext cx="4494652" cy="3465177"/>
          </a:xfrm>
        </p:spPr>
        <p:txBody>
          <a:bodyPr vert="horz" lIns="91440" tIns="45720" rIns="91440" bIns="45720" rtlCol="0" anchor="b">
            <a:no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br>
              <a:rPr lang="en-US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After the successful login, this page will be get displayed on your screen.</a:t>
            </a: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Your presently open requests will be visible here.</a:t>
            </a: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Click on “+ “sign  to open new request</a:t>
            </a:r>
            <a:b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3200" dirty="0">
                <a:solidFill>
                  <a:srgbClr val="FFFFFF"/>
                </a:solidFill>
                <a:effectLst/>
              </a:rPr>
            </a:br>
            <a:r>
              <a:rPr lang="en-US" sz="3200" dirty="0">
                <a:solidFill>
                  <a:srgbClr val="FFFFFF"/>
                </a:solidFill>
                <a:effectLst/>
              </a:rPr>
              <a:t>	</a:t>
            </a:r>
            <a:endParaRPr lang="en-US" sz="3200" dirty="0">
              <a:solidFill>
                <a:srgbClr val="FFFFFF"/>
              </a:solidFill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4F56E4B9-FC6E-446A-B866-20B83FC5BB4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73336" y="574053"/>
            <a:ext cx="3511224" cy="5782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336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455"/>
    </mc:Choice>
    <mc:Fallback xmlns="">
      <p:transition spd="slow" advTm="1945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5772175-955A-4811-B3D9-A03023BEF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0619" y="381383"/>
            <a:ext cx="6858000" cy="609523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24724" y="126724"/>
            <a:ext cx="6346209" cy="611304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792937" y="2554938"/>
            <a:ext cx="2501979" cy="610413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1245782" y="1257085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5457" y="385455"/>
            <a:ext cx="6858001" cy="608709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0C86EF7-5EC4-4682-A7BD-444DA4916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760" y="10141"/>
            <a:ext cx="5608469" cy="6858864"/>
          </a:xfrm>
          <a:prstGeom prst="rect">
            <a:avLst/>
          </a:prstGeom>
          <a:gradFill>
            <a:gsLst>
              <a:gs pos="21000">
                <a:schemeClr val="accent1">
                  <a:lumMod val="75000"/>
                  <a:alpha val="6000"/>
                </a:schemeClr>
              </a:gs>
              <a:gs pos="99000">
                <a:schemeClr val="accent1">
                  <a:lumMod val="50000"/>
                  <a:alpha val="33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D757EB-6D71-424C-90FE-2CAD1CB98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022" y="3183246"/>
            <a:ext cx="4494652" cy="3465177"/>
          </a:xfrm>
        </p:spPr>
        <p:txBody>
          <a:bodyPr vert="horz" lIns="91440" tIns="45720" rIns="91440" bIns="45720" rtlCol="0" anchor="b">
            <a:no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3200" dirty="0">
                <a:solidFill>
                  <a:srgbClr val="FFFFFF"/>
                </a:solidFill>
                <a:effectLst/>
              </a:rPr>
            </a:br>
            <a:r>
              <a:rPr lang="en-US" sz="3200" dirty="0">
                <a:solidFill>
                  <a:srgbClr val="FFFFFF"/>
                </a:solidFill>
                <a:effectLst/>
              </a:rPr>
              <a:t>	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0E031-675E-4C2A-978D-624C955A5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855" y="621686"/>
            <a:ext cx="4766470" cy="5734665"/>
          </a:xfrm>
        </p:spPr>
        <p:txBody>
          <a:bodyPr>
            <a:noAutofit/>
          </a:bodyPr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 Request page will be displayed on your screen with various option.</a:t>
            </a:r>
            <a:endParaRPr lang="en-US" sz="20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your work location from the drop-down list, if not appeared by default. </a:t>
            </a:r>
            <a:endParaRPr lang="en-US" sz="20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the appropriate “Group” followed by “Category".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After filling up all the tabs, click on “tick” sign to complete the process. </a:t>
            </a:r>
            <a:endParaRPr lang="en-US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Your ticket will get generated and will be visible under “My Open Request” tab.</a:t>
            </a:r>
            <a:endParaRPr lang="en-US" sz="20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9E0A249-C204-4260-9AEE-58FDDE4247E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461786" y="117254"/>
            <a:ext cx="3490694" cy="6659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197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598"/>
    </mc:Choice>
    <mc:Fallback xmlns="">
      <p:transition spd="slow" advTm="32598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5772175-955A-4811-B3D9-A03023BEF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0619" y="381383"/>
            <a:ext cx="6858000" cy="609523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24724" y="126724"/>
            <a:ext cx="6346209" cy="611304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792937" y="2554938"/>
            <a:ext cx="2501979" cy="610413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1245782" y="1257085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5457" y="385455"/>
            <a:ext cx="6858001" cy="608709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0C86EF7-5EC4-4682-A7BD-444DA4916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760" y="10141"/>
            <a:ext cx="5608469" cy="6858864"/>
          </a:xfrm>
          <a:prstGeom prst="rect">
            <a:avLst/>
          </a:prstGeom>
          <a:gradFill>
            <a:gsLst>
              <a:gs pos="21000">
                <a:schemeClr val="accent1">
                  <a:lumMod val="75000"/>
                  <a:alpha val="6000"/>
                </a:schemeClr>
              </a:gs>
              <a:gs pos="99000">
                <a:schemeClr val="accent1">
                  <a:lumMod val="50000"/>
                  <a:alpha val="33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D757EB-6D71-424C-90FE-2CAD1CB98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022" y="3183246"/>
            <a:ext cx="4494652" cy="3465177"/>
          </a:xfrm>
        </p:spPr>
        <p:txBody>
          <a:bodyPr vert="horz" lIns="91440" tIns="45720" rIns="91440" bIns="45720" rtlCol="0" anchor="b">
            <a:no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3200" dirty="0">
                <a:solidFill>
                  <a:srgbClr val="FFFFFF"/>
                </a:solidFill>
                <a:effectLst/>
              </a:rPr>
            </a:br>
            <a:r>
              <a:rPr lang="en-US" sz="3200" dirty="0">
                <a:solidFill>
                  <a:srgbClr val="FFFFFF"/>
                </a:solidFill>
                <a:effectLst/>
              </a:rPr>
              <a:t>	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0E031-675E-4C2A-978D-624C955A5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855" y="621686"/>
            <a:ext cx="4766470" cy="573466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en-US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Click on ticket for more details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9C2CA8-1D7E-4106-B56F-2F7C85B13C2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31273" y="2570099"/>
            <a:ext cx="3705225" cy="385895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B03DCE4-1974-4D69-B9D3-F79EF9277A29}"/>
              </a:ext>
            </a:extLst>
          </p:cNvPr>
          <p:cNvSpPr txBox="1"/>
          <p:nvPr/>
        </p:nvSpPr>
        <p:spPr>
          <a:xfrm>
            <a:off x="6599806" y="491111"/>
            <a:ext cx="5244155" cy="1260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US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to highlighted option at the right side and click on “Reply” to update /Post comment on the ticket . </a:t>
            </a:r>
            <a:endParaRPr lang="en-US" sz="24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8BD96DE-038E-46C2-9016-79224425713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055545" y="2381630"/>
            <a:ext cx="3705225" cy="394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113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629"/>
    </mc:Choice>
    <mc:Fallback xmlns="">
      <p:transition spd="slow" advTm="15629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5772175-955A-4811-B3D9-A03023BEF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0619" y="381383"/>
            <a:ext cx="6858000" cy="609523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24724" y="126724"/>
            <a:ext cx="6346209" cy="611304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792937" y="2554938"/>
            <a:ext cx="2501979" cy="610413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1245782" y="1257085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5457" y="385455"/>
            <a:ext cx="6858001" cy="608709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0C86EF7-5EC4-4682-A7BD-444DA4916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760" y="10141"/>
            <a:ext cx="5608469" cy="6858864"/>
          </a:xfrm>
          <a:prstGeom prst="rect">
            <a:avLst/>
          </a:prstGeom>
          <a:gradFill>
            <a:gsLst>
              <a:gs pos="21000">
                <a:schemeClr val="accent1">
                  <a:lumMod val="75000"/>
                  <a:alpha val="6000"/>
                </a:schemeClr>
              </a:gs>
              <a:gs pos="99000">
                <a:schemeClr val="accent1">
                  <a:lumMod val="50000"/>
                  <a:alpha val="33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D757EB-6D71-424C-90FE-2CAD1CB98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022" y="3183246"/>
            <a:ext cx="4494652" cy="3465177"/>
          </a:xfrm>
        </p:spPr>
        <p:txBody>
          <a:bodyPr vert="horz" lIns="91440" tIns="45720" rIns="91440" bIns="45720" rtlCol="0" anchor="b">
            <a:no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3200" dirty="0">
                <a:solidFill>
                  <a:srgbClr val="FFFFFF"/>
                </a:solidFill>
                <a:effectLst/>
              </a:rPr>
            </a:br>
            <a:r>
              <a:rPr lang="en-US" sz="3200" dirty="0">
                <a:solidFill>
                  <a:srgbClr val="FFFFFF"/>
                </a:solidFill>
                <a:effectLst/>
              </a:rPr>
              <a:t>	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0E031-675E-4C2A-978D-624C955A5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113" y="10137"/>
            <a:ext cx="4766470" cy="5734665"/>
          </a:xfrm>
        </p:spPr>
        <p:txBody>
          <a:bodyPr>
            <a:noAutofit/>
          </a:bodyPr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view all the conversation on the ticket </a:t>
            </a:r>
            <a:r>
              <a:rPr lang="en-US" sz="2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click on second tab .</a:t>
            </a:r>
            <a:endParaRPr lang="en-US" sz="24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Click on back arrow to visit home page. </a:t>
            </a:r>
            <a:endParaRPr lang="en-US" sz="24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250C212-8222-4B60-967E-935292B69FA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309816" y="1458259"/>
            <a:ext cx="3686175" cy="393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502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274"/>
    </mc:Choice>
    <mc:Fallback xmlns="">
      <p:transition spd="slow" advTm="9274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5772175-955A-4811-B3D9-A03023BEF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0619" y="381383"/>
            <a:ext cx="6858000" cy="609523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24724" y="126724"/>
            <a:ext cx="6346209" cy="611304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792937" y="2554938"/>
            <a:ext cx="2501979" cy="610413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1245782" y="1257085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5457" y="385455"/>
            <a:ext cx="6858001" cy="608709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0C86EF7-5EC4-4682-A7BD-444DA4916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760" y="10141"/>
            <a:ext cx="5608469" cy="6858864"/>
          </a:xfrm>
          <a:prstGeom prst="rect">
            <a:avLst/>
          </a:prstGeom>
          <a:gradFill>
            <a:gsLst>
              <a:gs pos="21000">
                <a:schemeClr val="accent1">
                  <a:lumMod val="75000"/>
                  <a:alpha val="6000"/>
                </a:schemeClr>
              </a:gs>
              <a:gs pos="99000">
                <a:schemeClr val="accent1">
                  <a:lumMod val="50000"/>
                  <a:alpha val="33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D757EB-6D71-424C-90FE-2CAD1CB98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022" y="3183246"/>
            <a:ext cx="4494652" cy="3465177"/>
          </a:xfrm>
        </p:spPr>
        <p:txBody>
          <a:bodyPr vert="horz" lIns="91440" tIns="45720" rIns="91440" bIns="45720" rtlCol="0" anchor="b">
            <a:no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3200" dirty="0">
                <a:solidFill>
                  <a:srgbClr val="FFFFFF"/>
                </a:solidFill>
                <a:effectLst/>
              </a:rPr>
            </a:br>
            <a:r>
              <a:rPr lang="en-US" sz="3200" dirty="0">
                <a:solidFill>
                  <a:srgbClr val="FFFFFF"/>
                </a:solidFill>
                <a:effectLst/>
              </a:rPr>
              <a:t>	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0E031-675E-4C2A-978D-624C955A5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113" y="10137"/>
            <a:ext cx="4766470" cy="5734665"/>
          </a:xfrm>
        </p:spPr>
        <p:txBody>
          <a:bodyPr>
            <a:noAutofit/>
          </a:bodyPr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sign-out the App. Click Three Parallel lines at left side on home page.</a:t>
            </a:r>
            <a:endParaRPr lang="en-US" sz="24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4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 to settings Option. Click Logout.</a:t>
            </a:r>
            <a:endParaRPr lang="en-US" sz="24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2D31327-433D-4A87-B929-0BD4D16ADAE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149363" y="217067"/>
            <a:ext cx="3711864" cy="27934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CE2F190-8074-4E56-9B65-B4FB86C15AB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064735" y="3227591"/>
            <a:ext cx="3881120" cy="318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915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39"/>
    </mc:Choice>
    <mc:Fallback xmlns="">
      <p:transition spd="slow" advTm="11239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D757EB-6D71-424C-90FE-2CAD1CB98D0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 lvl="0">
              <a:spcAft>
                <a:spcPts val="0"/>
              </a:spcAft>
            </a:pPr>
            <a:br>
              <a:rPr lang="en-US" sz="1200" b="1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br>
              <a:rPr lang="en-US" sz="1200" b="1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br>
              <a:rPr lang="en-US" sz="1200" b="1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br>
              <a:rPr lang="en-US" sz="1200" b="1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br>
              <a:rPr lang="en-US" sz="12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br>
              <a:rPr lang="en-US" sz="12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br>
              <a:rPr lang="en-US" sz="12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br>
              <a:rPr lang="en-US" sz="12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br>
              <a:rPr lang="en-US" sz="12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br>
              <a:rPr lang="en-US" sz="12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br>
              <a:rPr lang="en-US" sz="12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br>
              <a:rPr lang="en-US" sz="12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br>
              <a:rPr lang="en-US" sz="12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12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	</a:t>
            </a:r>
            <a:endParaRPr lang="en-US" sz="1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CC3B23-55E6-414E-8D78-3FC0565B90DC}"/>
              </a:ext>
            </a:extLst>
          </p:cNvPr>
          <p:cNvSpPr txBox="1"/>
          <p:nvPr/>
        </p:nvSpPr>
        <p:spPr>
          <a:xfrm>
            <a:off x="3047998" y="2740870"/>
            <a:ext cx="6096000" cy="1036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60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Thank </a:t>
            </a:r>
            <a:r>
              <a:rPr lang="en-US" sz="6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US" sz="60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 </a:t>
            </a:r>
            <a:endParaRPr lang="en-US" sz="60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5541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38"/>
    </mc:Choice>
    <mc:Fallback xmlns="">
      <p:transition spd="slow" advTm="2838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394</Words>
  <Application>Microsoft Office PowerPoint</Application>
  <PresentationFormat>Widescreen</PresentationFormat>
  <Paragraphs>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Symbol</vt:lpstr>
      <vt:lpstr>Office Theme</vt:lpstr>
      <vt:lpstr>Welcome to Harbinger Group Ticketing System Mobile App </vt:lpstr>
      <vt:lpstr>  Download Ticket system App from Play store / App store!  </vt:lpstr>
      <vt:lpstr>             After opening App this page will be displayed .  Click on Settings icon at the right-hand side.     </vt:lpstr>
      <vt:lpstr>Set the server port as 443 .   Check  “Use https” option.  Click on “SAVE” button after doing changes  </vt:lpstr>
      <vt:lpstr>     Insert your LDAP credentials and select “HARBINGER” from drop-down list.   Click on “LOGIN” after inserting the LDAP credentials   </vt:lpstr>
      <vt:lpstr>         After the successful login, this page will be get displayed on your screen.  Your presently open requests will be visible here.  Click on “+ “sign  to open new request   </vt:lpstr>
      <vt:lpstr>              </vt:lpstr>
      <vt:lpstr>              </vt:lpstr>
      <vt:lpstr>              </vt:lpstr>
      <vt:lpstr>              </vt:lpstr>
      <vt:lpstr>         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Harbinger Ticketing System Mobile App Document</dc:title>
  <dc:creator>Akshay Kale</dc:creator>
  <cp:lastModifiedBy>Akshay Kale</cp:lastModifiedBy>
  <cp:revision>24</cp:revision>
  <dcterms:created xsi:type="dcterms:W3CDTF">2021-06-18T14:19:11Z</dcterms:created>
  <dcterms:modified xsi:type="dcterms:W3CDTF">2021-08-11T11:34:27Z</dcterms:modified>
</cp:coreProperties>
</file>