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4.png"/><Relationship Id="rId7" Type="http://schemas.openxmlformats.org/officeDocument/2006/relationships/image" Target="../media/image-3-5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Learning: From Research to Production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journey through the tools, architectures, and pipelines that transform a deep learning experiment into a reliable, scalable production system.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577755"/>
            <a:ext cx="134914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774879" y="4634409"/>
            <a:ext cx="17319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05072" y="4577755"/>
            <a:ext cx="9055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18476" y="4634409"/>
            <a:ext cx="12883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05072" y="4577755"/>
            <a:ext cx="138744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18477" y="4634409"/>
            <a:ext cx="17702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86966" y="4577755"/>
            <a:ext cx="72437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371" y="4634409"/>
            <a:ext cx="11071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MLOPS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05798" y="4577755"/>
            <a:ext cx="80216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19203" y="4634409"/>
            <a:ext cx="11849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 Fundamentals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459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08309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Deep Learning?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56738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subset of machine learning that uses multi-layer neural networks to automatically learn patterns from large volumes of data — without hand-crafted features.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368726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97400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390455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Deep learning automatically learns useful representations from raw data, eliminating manual feature engineering.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61475" y="5594152"/>
            <a:ext cx="2575357" cy="685998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6832" y="5789513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Images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3425839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21195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6190301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85658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Speech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8954764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50121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Video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" y="121741"/>
            <a:ext cx="4409568" cy="6614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0677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PyTorch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367631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 is the dominant framework for deep learning research and production, offering dynamic computation graphs, seamless GPU support, and a rich ecosystem.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007791"/>
            <a:ext cx="6296860" cy="9420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025" y="2189262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DataLoaders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91025" y="2526804"/>
            <a:ext cx="585772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Load, transform, and batch data efficiently for training loops.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89374"/>
            <a:ext cx="6296860" cy="948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1025" y="3270845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&amp; Loss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91025" y="3608387"/>
            <a:ext cx="5857728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architectures with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compute gradients via a loss function.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177308"/>
            <a:ext cx="6296860" cy="9484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91025" y="4358779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Backpropagation &amp; Optimizer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491025" y="4696321"/>
            <a:ext cx="5857728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weights using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an optimizer like Adam or SGD.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265241"/>
            <a:ext cx="6296860" cy="9420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91025" y="5446713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Trained Model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491025" y="5784255"/>
            <a:ext cx="585772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via TorchScript or ONNX for inference serving.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39010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Transformers?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358497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neural architecture built on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self-attention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enabling models to capture long-range dependencies in sequences with high parallelism.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939006"/>
            <a:ext cx="5319083" cy="531921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6367314"/>
            <a:ext cx="141681" cy="14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8549" y="6364387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Self-Attention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68549" y="6540302"/>
            <a:ext cx="327641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Weighs the importance of every token relative to every other.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6367314"/>
            <a:ext cx="141681" cy="141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11076" y="6364387"/>
            <a:ext cx="327651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Parallelizable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611076" y="6540302"/>
            <a:ext cx="327651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entire sequences simultaneously, unlike RNNs.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2048" y="6367314"/>
            <a:ext cx="141681" cy="14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53702" y="6364387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Foundation Models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53702" y="6540302"/>
            <a:ext cx="327641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GPT, BERT, and T5 all derive from this architecture.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Transfer Learning &amp; Hugging Face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training from scratch, start from a pretrained model and fine-tune on your specific task — saving time, data, and compute.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771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05207" y="4415914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Pretrained Model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505207" y="4794085"/>
            <a:ext cx="1905200" cy="52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general features on massive 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54423" y="4519290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Model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854423" y="4897460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for deployment with strong baseline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95516" y="1576362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Fine-Tune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95516" y="1954533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 final layers to your dataset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94756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Transfer Learning?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1475" y="6148288"/>
            <a:ext cx="2635879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279" y="6249095"/>
            <a:ext cx="24342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 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44580" y="6148288"/>
            <a:ext cx="2635978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45384" y="6249095"/>
            <a:ext cx="243437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Training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1475" y="6544766"/>
            <a:ext cx="5319083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279" y="6645573"/>
            <a:ext cx="511747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Lower Compute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487" y="594756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Hugging Face Ecosystem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487" y="6142434"/>
            <a:ext cx="5319083" cy="50938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Thousands of pretrained models across NLP, vision, and audio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tokenizers and dataset libraries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Hub for sharing and versioning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accelerate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fine-tuning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820" y="92968"/>
            <a:ext cx="4447865" cy="6671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9877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Distributed Training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61475" y="1109563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models are too large for a single GPU. Distributed strategies split the workload across devices to train faster and at greater scale.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61475" y="1529755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1845" y="1660128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37" y="1762423"/>
            <a:ext cx="167378" cy="1673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1845" y="2113558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Parallelism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91845" y="2356148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batches across GPUs; each holds a full model copy.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61475" y="2732187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91845" y="2862560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137" y="2964855"/>
            <a:ext cx="167378" cy="1673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1845" y="3315990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Parallelism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91845" y="3558580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model layers across GPUs for models that don't fit in memory.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61475" y="3934619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1845" y="4064992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137" y="4167287"/>
            <a:ext cx="167378" cy="1673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1845" y="4518422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Parallelism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91845" y="4761012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the model into stages processed sequentially across devices.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61475" y="5137051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91845" y="5267424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137" y="5369719"/>
            <a:ext cx="167378" cy="1673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1845" y="5720854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FSDP / ZeRO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91845" y="5963444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Shard optimizer states and gradients to dramatically reduce memory footprint.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429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Registry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2928"/>
            <a:ext cx="3593216" cy="35933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5280" y="2401888"/>
            <a:ext cx="695119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Model Registry?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5280" y="2702818"/>
            <a:ext cx="695119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centralized system to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store, version, and govern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ML models throughout their lifecycle — from experiment to production.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85280" y="3170039"/>
            <a:ext cx="6951191" cy="415429"/>
          </a:xfrm>
          <a:prstGeom prst="roundRect">
            <a:avLst>
              <a:gd name="adj" fmla="val 1343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130" y="3313609"/>
            <a:ext cx="166088" cy="1328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17069" y="3287216"/>
            <a:ext cx="699613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Flow: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 → Evaluate → Register → Approve → Deploy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06380"/>
            <a:ext cx="3560673" cy="13091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62042" y="5105995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13375" y="5537895"/>
            <a:ext cx="32568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13375" y="5801519"/>
            <a:ext cx="325687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model, dataset, and code commit together.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5511" y="5006380"/>
            <a:ext cx="3560673" cy="13091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16078" y="5105995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467411" y="5537895"/>
            <a:ext cx="32568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Metrics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467411" y="5801519"/>
            <a:ext cx="32568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evaluation scores, hyperparameters, and owner info.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9547" y="5006380"/>
            <a:ext cx="3560673" cy="13091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70114" y="5105995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121447" y="5537895"/>
            <a:ext cx="32568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121447" y="5801519"/>
            <a:ext cx="32568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workflows, deployment status, and rollback capability.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CI/CD for Machine Learning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pipelines extend traditional CI/CD by adding data validation, model training, and performance gates before any deployment proceeds.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694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5023" y="4615199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Unit Tests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255023" y="4992741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and data tests must pass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98903" y="4321265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Eval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398903" y="4992741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accuracy, F1, AUC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88227" y="1499659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Validation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88227" y="2171136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schema, quality, and drift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404137" y="1499659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Gate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404137" y="187720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 must meet thresholds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52682" y="1499659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352682" y="187720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Retrain on validated data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587117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Gate Examples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1475" y="6071890"/>
            <a:ext cx="5319083" cy="685800"/>
          </a:xfrm>
          <a:prstGeom prst="roundRect">
            <a:avLst>
              <a:gd name="adj" fmla="val 57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825" y="6078240"/>
            <a:ext cx="2653142" cy="336550"/>
          </a:xfrm>
          <a:custGeom>
            <a:avLst/>
            <a:gdLst/>
            <a:ahLst/>
            <a:cxnLst/>
            <a:rect l="l" t="t" r="r" b="b"/>
            <a:pathLst>
              <a:path w="2653142" h="336550">
                <a:moveTo>
                  <a:pt x="33078" y="0"/>
                </a:moveTo>
                <a:lnTo>
                  <a:pt x="2653142" y="0"/>
                </a:lnTo>
                <a:lnTo>
                  <a:pt x="2653142" y="336550"/>
                </a:lnTo>
                <a:lnTo>
                  <a:pt x="0" y="336550"/>
                </a:lnTo>
                <a:lnTo>
                  <a:pt x="0" y="33079"/>
                </a:lnTo>
                <a:arcTo hR="33079" wR="3307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Text 15"/>
          <p:cNvSpPr/>
          <p:nvPr/>
        </p:nvSpPr>
        <p:spPr>
          <a:xfrm>
            <a:off x="762279" y="6172696"/>
            <a:ext cx="2464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 ≥ 90%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20967" y="6078240"/>
            <a:ext cx="2653241" cy="336550"/>
          </a:xfrm>
          <a:custGeom>
            <a:avLst/>
            <a:gdLst/>
            <a:ahLst/>
            <a:cxnLst/>
            <a:rect l="l" t="t" r="r" b="b"/>
            <a:pathLst>
              <a:path w="2653241" h="336550">
                <a:moveTo>
                  <a:pt x="0" y="0"/>
                </a:moveTo>
                <a:lnTo>
                  <a:pt x="2620163" y="0"/>
                </a:lnTo>
                <a:arcTo hR="33079" wR="33078" stAng="16200000" swAng="5400000"/>
                <a:lnTo>
                  <a:pt x="2653241" y="336550"/>
                </a:lnTo>
                <a:lnTo>
                  <a:pt x="0" y="33655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0967" y="6078240"/>
            <a:ext cx="12700" cy="3365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1" name="Text 18"/>
          <p:cNvSpPr/>
          <p:nvPr/>
        </p:nvSpPr>
        <p:spPr>
          <a:xfrm>
            <a:off x="3415421" y="6172696"/>
            <a:ext cx="24643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 ≥ 85%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7825" y="6414790"/>
            <a:ext cx="5306384" cy="336550"/>
          </a:xfrm>
          <a:custGeom>
            <a:avLst/>
            <a:gdLst/>
            <a:ahLst/>
            <a:cxnLst/>
            <a:rect l="l" t="t" r="r" b="b"/>
            <a:pathLst>
              <a:path w="5306384" h="336550">
                <a:moveTo>
                  <a:pt x="0" y="0"/>
                </a:moveTo>
                <a:lnTo>
                  <a:pt x="5306384" y="0"/>
                </a:lnTo>
                <a:lnTo>
                  <a:pt x="5306384" y="303471"/>
                </a:lnTo>
                <a:arcTo hR="33079" wR="33078" stAng="0" swAng="5400000"/>
                <a:lnTo>
                  <a:pt x="33078" y="336550"/>
                </a:lnTo>
                <a:arcTo hR="33079" wR="3307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3" name="Shape 20"/>
          <p:cNvSpPr/>
          <p:nvPr/>
        </p:nvSpPr>
        <p:spPr>
          <a:xfrm>
            <a:off x="667825" y="6414790"/>
            <a:ext cx="5306384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4" name="Text 21"/>
          <p:cNvSpPr/>
          <p:nvPr/>
        </p:nvSpPr>
        <p:spPr>
          <a:xfrm>
            <a:off x="762279" y="6509246"/>
            <a:ext cx="511747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AUC ≥ 90%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487" y="587117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Difference from Traditional CI/CD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17487" y="6066036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pipelines test code only. ML CI/CD must also validate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quality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 performance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failing metric blocks deployment automatically.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 for ML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0692"/>
            <a:ext cx="3565138" cy="3565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0460" y="2642890"/>
            <a:ext cx="693601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Solving "It Works on My Machine"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00460" y="2998192"/>
            <a:ext cx="6936011" cy="757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packages your application, Python runtime, PyTorch, dependencies, and model artifacts into a single portable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container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eliminating environment drift between development and production.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are stored in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Docker Hub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Amazon ECR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a private registry.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5245795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5482630"/>
            <a:ext cx="354291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596037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Write Dockerfile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5903317"/>
            <a:ext cx="35429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base image, dependencies, and entry point.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24341" y="5245795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4341" y="5482630"/>
            <a:ext cx="354291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4324341" y="5596037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Docker Image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324341" y="5903317"/>
            <a:ext cx="35429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 reproducible snapshot of the environment.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87207" y="5245795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87207" y="5482630"/>
            <a:ext cx="354301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7987207" y="5596037"/>
            <a:ext cx="354301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Container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987207" y="5903317"/>
            <a:ext cx="354301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consistently across any host or cloud.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967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Deep Learning Lifecycle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30498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AI is not a single model — it is an </a:t>
            </a:r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automated, governed lifecycle</a:t>
            </a:r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connecting every stage from raw data to continuous improvement.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39630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159315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69475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194439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Collect, clean, and version datasets.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38510" y="139630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38510" y="159315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138510" y="169475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 &amp; PyTorch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8510" y="194439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train neural network models.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1475" y="2294830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2491680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593280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2842915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self-attention architectures for NLP, vision, and multimodal tasks.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38510" y="2294830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38510" y="2491680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138510" y="2593280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Distributed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38510" y="2842915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across multiple GPUs for large models.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1475" y="319335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1475" y="339020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349180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1475" y="374144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accuracy, F1, AUC, and other metrics.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38510" y="319335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8510" y="339020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6138510" y="349180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Registry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38510" y="374144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Version, track, and govern model artifacts.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1475" y="4091880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1475" y="4288730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390330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CI/CD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1475" y="4639965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testing, quality gates, and deployment pipelines.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38510" y="4091880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8510" y="4288730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Text 32"/>
          <p:cNvSpPr/>
          <p:nvPr/>
        </p:nvSpPr>
        <p:spPr>
          <a:xfrm>
            <a:off x="6138510" y="4390330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38510" y="4639965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models into reproducible containers.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1475" y="499040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1475" y="518725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8" name="Text 36"/>
          <p:cNvSpPr/>
          <p:nvPr/>
        </p:nvSpPr>
        <p:spPr>
          <a:xfrm>
            <a:off x="661475" y="528885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1475" y="553849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models to production environments.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38510" y="4990405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38510" y="5187255"/>
            <a:ext cx="53917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2" name="Text 40"/>
          <p:cNvSpPr/>
          <p:nvPr/>
        </p:nvSpPr>
        <p:spPr>
          <a:xfrm>
            <a:off x="6138510" y="5288855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Monitoring &amp; Continuous Improvement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38510" y="5538490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drift, retrain, and iterate.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1475" y="5899547"/>
            <a:ext cx="10868745" cy="395486"/>
          </a:xfrm>
          <a:prstGeom prst="roundRect">
            <a:avLst>
              <a:gd name="adj" fmla="val 13487"/>
            </a:avLst>
          </a:prstGeom>
          <a:solidFill>
            <a:srgbClr val="E1E1EA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72" y="6019800"/>
            <a:ext cx="158746" cy="1270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074215" y="6016625"/>
            <a:ext cx="109385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Takeaway:</a:t>
            </a:r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Every tool in this stack serves a purpose — together they form a reliable, scalable path from experiment to production AI.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2026-08-21T05:40:02Z</dcterms:created>
  <dcterms:modified xsi:type="dcterms:W3CDTF">2026-08-21T05:40:02Z</dcterms:modified>
</cp:coreProperties>
</file>